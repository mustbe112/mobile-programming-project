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charset="1" panose="00000500000000000000"/>
      <p:regular r:id="rId13"/>
    </p:embeddedFont>
    <p:embeddedFont>
      <p:font typeface="Poppins Bold" charset="1" panose="00000800000000000000"/>
      <p:regular r:id="rId14"/>
    </p:embeddedFont>
    <p:embeddedFont>
      <p:font typeface="The Seasons" charset="1" panose="00000000000000000000"/>
      <p:regular r:id="rId15"/>
    </p:embeddedFont>
    <p:embeddedFont>
      <p:font typeface="Alice" charset="1" panose="00000500000000000000"/>
      <p:regular r:id="rId16"/>
    </p:embeddedFont>
    <p:embeddedFont>
      <p:font typeface="Open Sans" charset="1" panose="00000000000000000000"/>
      <p:regular r:id="rId17"/>
    </p:embeddedFont>
    <p:embeddedFont>
      <p:font typeface="Canva Sans Bold" charset="1" panose="020B0803030501040103"/>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9.png" Type="http://schemas.openxmlformats.org/officeDocument/2006/relationships/image"/><Relationship Id="rId4" Target="../media/image1.png" Type="http://schemas.openxmlformats.org/officeDocument/2006/relationships/image"/><Relationship Id="rId5"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12003116" y="876268"/>
            <a:ext cx="5876304" cy="11627276"/>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270" r="0" b="-27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15" id="15"/>
          <p:cNvSpPr/>
          <p:nvPr/>
        </p:nvSpPr>
        <p:spPr>
          <a:xfrm flipH="false" flipV="false" rot="0">
            <a:off x="7419098" y="4406610"/>
            <a:ext cx="4851690" cy="4851690"/>
          </a:xfrm>
          <a:custGeom>
            <a:avLst/>
            <a:gdLst/>
            <a:ahLst/>
            <a:cxnLst/>
            <a:rect r="r" b="b" t="t" l="l"/>
            <a:pathLst>
              <a:path h="4851690" w="4851690">
                <a:moveTo>
                  <a:pt x="0" y="0"/>
                </a:moveTo>
                <a:lnTo>
                  <a:pt x="4851690" y="0"/>
                </a:lnTo>
                <a:lnTo>
                  <a:pt x="4851690" y="4851690"/>
                </a:lnTo>
                <a:lnTo>
                  <a:pt x="0" y="4851690"/>
                </a:lnTo>
                <a:lnTo>
                  <a:pt x="0" y="0"/>
                </a:lnTo>
                <a:close/>
              </a:path>
            </a:pathLst>
          </a:custGeom>
          <a:blipFill>
            <a:blip r:embed="rId3">
              <a:alphaModFix amt="21999"/>
            </a:blip>
            <a:stretch>
              <a:fillRect l="0" t="0" r="0" b="0"/>
            </a:stretch>
          </a:blipFill>
        </p:spPr>
      </p:sp>
      <p:sp>
        <p:nvSpPr>
          <p:cNvPr name="Freeform 16" id="16"/>
          <p:cNvSpPr/>
          <p:nvPr/>
        </p:nvSpPr>
        <p:spPr>
          <a:xfrm flipH="false" flipV="false" rot="0">
            <a:off x="9995932" y="4406610"/>
            <a:ext cx="4851690" cy="4851690"/>
          </a:xfrm>
          <a:custGeom>
            <a:avLst/>
            <a:gdLst/>
            <a:ahLst/>
            <a:cxnLst/>
            <a:rect r="r" b="b" t="t" l="l"/>
            <a:pathLst>
              <a:path h="4851690" w="4851690">
                <a:moveTo>
                  <a:pt x="0" y="0"/>
                </a:moveTo>
                <a:lnTo>
                  <a:pt x="4851691" y="0"/>
                </a:lnTo>
                <a:lnTo>
                  <a:pt x="4851691" y="4851690"/>
                </a:lnTo>
                <a:lnTo>
                  <a:pt x="0" y="4851690"/>
                </a:lnTo>
                <a:lnTo>
                  <a:pt x="0" y="0"/>
                </a:lnTo>
                <a:close/>
              </a:path>
            </a:pathLst>
          </a:custGeom>
          <a:blipFill>
            <a:blip r:embed="rId3">
              <a:alphaModFix amt="21999"/>
            </a:blip>
            <a:stretch>
              <a:fillRect l="0" t="0" r="0" b="0"/>
            </a:stretch>
          </a:blipFill>
        </p:spPr>
      </p:sp>
      <p:grpSp>
        <p:nvGrpSpPr>
          <p:cNvPr name="Group 17" id="17"/>
          <p:cNvGrpSpPr/>
          <p:nvPr/>
        </p:nvGrpSpPr>
        <p:grpSpPr>
          <a:xfrm rot="0">
            <a:off x="8394727" y="5309790"/>
            <a:ext cx="5139841" cy="2819922"/>
            <a:chOff x="0" y="0"/>
            <a:chExt cx="1052050" cy="577197"/>
          </a:xfrm>
        </p:grpSpPr>
        <p:sp>
          <p:nvSpPr>
            <p:cNvPr name="Freeform 18" id="18"/>
            <p:cNvSpPr/>
            <p:nvPr/>
          </p:nvSpPr>
          <p:spPr>
            <a:xfrm flipH="false" flipV="false" rot="0">
              <a:off x="0" y="0"/>
              <a:ext cx="1052050" cy="577197"/>
            </a:xfrm>
            <a:custGeom>
              <a:avLst/>
              <a:gdLst/>
              <a:ahLst/>
              <a:cxnLst/>
              <a:rect r="r" b="b" t="t" l="l"/>
              <a:pathLst>
                <a:path h="577197" w="105205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FFFFF"/>
            </a:solidFill>
          </p:spPr>
        </p:sp>
        <p:sp>
          <p:nvSpPr>
            <p:cNvPr name="TextBox 19" id="19"/>
            <p:cNvSpPr txBox="true"/>
            <p:nvPr/>
          </p:nvSpPr>
          <p:spPr>
            <a:xfrm>
              <a:off x="0" y="-38100"/>
              <a:ext cx="1052050" cy="615297"/>
            </a:xfrm>
            <a:prstGeom prst="rect">
              <a:avLst/>
            </a:prstGeom>
          </p:spPr>
          <p:txBody>
            <a:bodyPr anchor="ctr" rtlCol="false" tIns="47086" lIns="47086" bIns="47086" rIns="47086"/>
            <a:lstStyle/>
            <a:p>
              <a:pPr algn="ctr">
                <a:lnSpc>
                  <a:spcPts val="2659"/>
                </a:lnSpc>
              </a:pPr>
            </a:p>
          </p:txBody>
        </p:sp>
      </p:grpSp>
      <p:pic>
        <p:nvPicPr>
          <p:cNvPr name="Picture 20" id="20"/>
          <p:cNvPicPr>
            <a:picLocks noChangeAspect="true"/>
          </p:cNvPicPr>
          <p:nvPr/>
        </p:nvPicPr>
        <p:blipFill>
          <a:blip r:embed="rId4"/>
          <a:stretch>
            <a:fillRect/>
          </a:stretch>
        </p:blipFill>
        <p:spPr>
          <a:xfrm rot="0">
            <a:off x="9044705" y="5485819"/>
            <a:ext cx="1810448" cy="1810448"/>
          </a:xfrm>
          <a:prstGeom prst="rect">
            <a:avLst/>
          </a:prstGeom>
        </p:spPr>
      </p:pic>
      <p:pic>
        <p:nvPicPr>
          <p:cNvPr name="Picture 21" id="21"/>
          <p:cNvPicPr>
            <a:picLocks noChangeAspect="true"/>
          </p:cNvPicPr>
          <p:nvPr/>
        </p:nvPicPr>
        <p:blipFill>
          <a:blip r:embed="rId5"/>
          <a:stretch>
            <a:fillRect/>
          </a:stretch>
        </p:blipFill>
        <p:spPr>
          <a:xfrm rot="0">
            <a:off x="11048712" y="5485819"/>
            <a:ext cx="1810448" cy="1810448"/>
          </a:xfrm>
          <a:prstGeom prst="rect">
            <a:avLst/>
          </a:prstGeom>
        </p:spPr>
      </p:pic>
      <p:sp>
        <p:nvSpPr>
          <p:cNvPr name="Freeform 22" id="22"/>
          <p:cNvSpPr/>
          <p:nvPr/>
        </p:nvSpPr>
        <p:spPr>
          <a:xfrm flipH="false" flipV="false" rot="0">
            <a:off x="-193582" y="-346015"/>
            <a:ext cx="2444565" cy="2444565"/>
          </a:xfrm>
          <a:custGeom>
            <a:avLst/>
            <a:gdLst/>
            <a:ahLst/>
            <a:cxnLst/>
            <a:rect r="r" b="b" t="t" l="l"/>
            <a:pathLst>
              <a:path h="2444565" w="2444565">
                <a:moveTo>
                  <a:pt x="0" y="0"/>
                </a:moveTo>
                <a:lnTo>
                  <a:pt x="2444564" y="0"/>
                </a:lnTo>
                <a:lnTo>
                  <a:pt x="2444564" y="2444565"/>
                </a:lnTo>
                <a:lnTo>
                  <a:pt x="0" y="2444565"/>
                </a:lnTo>
                <a:lnTo>
                  <a:pt x="0" y="0"/>
                </a:lnTo>
                <a:close/>
              </a:path>
            </a:pathLst>
          </a:custGeom>
          <a:blipFill>
            <a:blip r:embed="rId6"/>
            <a:stretch>
              <a:fillRect l="0" t="0" r="-12415" b="-12415"/>
            </a:stretch>
          </a:blipFill>
        </p:spPr>
      </p:sp>
      <p:grpSp>
        <p:nvGrpSpPr>
          <p:cNvPr name="Group 23" id="23"/>
          <p:cNvGrpSpPr/>
          <p:nvPr/>
        </p:nvGrpSpPr>
        <p:grpSpPr>
          <a:xfrm rot="0">
            <a:off x="1180239" y="1829260"/>
            <a:ext cx="7413023" cy="3059638"/>
            <a:chOff x="0" y="0"/>
            <a:chExt cx="9884031" cy="4079518"/>
          </a:xfrm>
        </p:grpSpPr>
        <p:sp>
          <p:nvSpPr>
            <p:cNvPr name="TextBox 24" id="24"/>
            <p:cNvSpPr txBox="true"/>
            <p:nvPr/>
          </p:nvSpPr>
          <p:spPr>
            <a:xfrm rot="0">
              <a:off x="0" y="-333375"/>
              <a:ext cx="7657054" cy="2690393"/>
            </a:xfrm>
            <a:prstGeom prst="rect">
              <a:avLst/>
            </a:prstGeom>
          </p:spPr>
          <p:txBody>
            <a:bodyPr anchor="t" rtlCol="false" tIns="0" lIns="0" bIns="0" rIns="0">
              <a:spAutoFit/>
            </a:bodyPr>
            <a:lstStyle/>
            <a:p>
              <a:pPr algn="l">
                <a:lnSpc>
                  <a:spcPts val="16583"/>
                </a:lnSpc>
                <a:spcBef>
                  <a:spcPct val="0"/>
                </a:spcBef>
              </a:pPr>
              <a:r>
                <a:rPr lang="en-US" sz="11845">
                  <a:solidFill>
                    <a:srgbClr val="2E71D6"/>
                  </a:solidFill>
                  <a:latin typeface="Poppins"/>
                  <a:ea typeface="Poppins"/>
                  <a:cs typeface="Poppins"/>
                  <a:sym typeface="Poppins"/>
                </a:rPr>
                <a:t>UNI</a:t>
              </a:r>
            </a:p>
          </p:txBody>
        </p:sp>
        <p:sp>
          <p:nvSpPr>
            <p:cNvPr name="TextBox 25" id="25"/>
            <p:cNvSpPr txBox="true"/>
            <p:nvPr/>
          </p:nvSpPr>
          <p:spPr>
            <a:xfrm rot="0">
              <a:off x="3089596" y="1340577"/>
              <a:ext cx="6794435" cy="2738941"/>
            </a:xfrm>
            <a:prstGeom prst="rect">
              <a:avLst/>
            </a:prstGeom>
          </p:spPr>
          <p:txBody>
            <a:bodyPr anchor="t" rtlCol="false" tIns="0" lIns="0" bIns="0" rIns="0">
              <a:spAutoFit/>
            </a:bodyPr>
            <a:lstStyle/>
            <a:p>
              <a:pPr algn="l">
                <a:lnSpc>
                  <a:spcPts val="16583"/>
                </a:lnSpc>
                <a:spcBef>
                  <a:spcPct val="0"/>
                </a:spcBef>
              </a:pPr>
              <a:r>
                <a:rPr lang="en-US" b="true" sz="11845">
                  <a:solidFill>
                    <a:srgbClr val="7E2BAD"/>
                  </a:solidFill>
                  <a:latin typeface="Poppins Bold"/>
                  <a:ea typeface="Poppins Bold"/>
                  <a:cs typeface="Poppins Bold"/>
                  <a:sym typeface="Poppins Bold"/>
                </a:rPr>
                <a:t>PASS</a:t>
              </a:r>
            </a:p>
          </p:txBody>
        </p:sp>
      </p:grpSp>
      <p:sp>
        <p:nvSpPr>
          <p:cNvPr name="TextBox 26" id="26"/>
          <p:cNvSpPr txBox="true"/>
          <p:nvPr/>
        </p:nvSpPr>
        <p:spPr>
          <a:xfrm rot="0">
            <a:off x="9056424" y="7360168"/>
            <a:ext cx="1739510" cy="295615"/>
          </a:xfrm>
          <a:prstGeom prst="rect">
            <a:avLst/>
          </a:prstGeom>
        </p:spPr>
        <p:txBody>
          <a:bodyPr anchor="t" rtlCol="false" tIns="0" lIns="0" bIns="0" rIns="0">
            <a:spAutoFit/>
          </a:bodyPr>
          <a:lstStyle/>
          <a:p>
            <a:pPr algn="ctr">
              <a:lnSpc>
                <a:spcPts val="2326"/>
              </a:lnSpc>
              <a:spcBef>
                <a:spcPct val="0"/>
              </a:spcBef>
            </a:pPr>
            <a:r>
              <a:rPr lang="en-US" b="true" sz="1662">
                <a:solidFill>
                  <a:srgbClr val="335ACF"/>
                </a:solidFill>
                <a:latin typeface="Poppins Bold"/>
                <a:ea typeface="Poppins Bold"/>
                <a:cs typeface="Poppins Bold"/>
                <a:sym typeface="Poppins Bold"/>
              </a:rPr>
              <a:t>Dart</a:t>
            </a:r>
          </a:p>
        </p:txBody>
      </p:sp>
      <p:sp>
        <p:nvSpPr>
          <p:cNvPr name="TextBox 27" id="27"/>
          <p:cNvSpPr txBox="true"/>
          <p:nvPr/>
        </p:nvSpPr>
        <p:spPr>
          <a:xfrm rot="0">
            <a:off x="11133360" y="7360168"/>
            <a:ext cx="1739510" cy="295615"/>
          </a:xfrm>
          <a:prstGeom prst="rect">
            <a:avLst/>
          </a:prstGeom>
        </p:spPr>
        <p:txBody>
          <a:bodyPr anchor="t" rtlCol="false" tIns="0" lIns="0" bIns="0" rIns="0">
            <a:spAutoFit/>
          </a:bodyPr>
          <a:lstStyle/>
          <a:p>
            <a:pPr algn="ctr">
              <a:lnSpc>
                <a:spcPts val="2326"/>
              </a:lnSpc>
              <a:spcBef>
                <a:spcPct val="0"/>
              </a:spcBef>
            </a:pPr>
            <a:r>
              <a:rPr lang="en-US" b="true" sz="1662">
                <a:solidFill>
                  <a:srgbClr val="335ACF"/>
                </a:solidFill>
                <a:latin typeface="Poppins Bold"/>
                <a:ea typeface="Poppins Bold"/>
                <a:cs typeface="Poppins Bold"/>
                <a:sym typeface="Poppins Bold"/>
              </a:rPr>
              <a:t>JavaScript</a:t>
            </a:r>
          </a:p>
        </p:txBody>
      </p:sp>
      <p:sp>
        <p:nvSpPr>
          <p:cNvPr name="TextBox 28" id="28"/>
          <p:cNvSpPr txBox="true"/>
          <p:nvPr/>
        </p:nvSpPr>
        <p:spPr>
          <a:xfrm rot="0">
            <a:off x="705462" y="5612287"/>
            <a:ext cx="7190554" cy="1675497"/>
          </a:xfrm>
          <a:prstGeom prst="rect">
            <a:avLst/>
          </a:prstGeom>
        </p:spPr>
        <p:txBody>
          <a:bodyPr anchor="t" rtlCol="false" tIns="0" lIns="0" bIns="0" rIns="0">
            <a:spAutoFit/>
          </a:bodyPr>
          <a:lstStyle/>
          <a:p>
            <a:pPr algn="l">
              <a:lnSpc>
                <a:spcPts val="2659"/>
              </a:lnSpc>
              <a:spcBef>
                <a:spcPct val="0"/>
              </a:spcBef>
            </a:pPr>
            <a:r>
              <a:rPr lang="en-US" sz="1899">
                <a:solidFill>
                  <a:srgbClr val="1F2020"/>
                </a:solidFill>
                <a:latin typeface="The Seasons"/>
                <a:ea typeface="The Seasons"/>
                <a:cs typeface="The Seasons"/>
                <a:sym typeface="The Seasons"/>
              </a:rPr>
              <a:t>UniPass is a smart digital student ID and code-based attendance system. Students use a mobile ID and enter a time-limited lecturer code to record attendance. Lecturers create codes, manage courses, and export reports—making attendance fast, accurate, and paperless.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128654" y="1246147"/>
            <a:ext cx="4106292" cy="8125005"/>
            <a:chOff x="0" y="0"/>
            <a:chExt cx="2620010" cy="5184140"/>
          </a:xfrm>
        </p:grpSpPr>
        <p:sp>
          <p:nvSpPr>
            <p:cNvPr name="Freeform 3" id="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 id="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0" r="0" b="-2401"/>
              </a:stretch>
            </a:blipFill>
          </p:spPr>
        </p:sp>
        <p:sp>
          <p:nvSpPr>
            <p:cNvPr name="Freeform 5" id="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6" id="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7" id="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8" id="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9" id="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0" id="1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1" id="1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12" id="12"/>
          <p:cNvSpPr/>
          <p:nvPr/>
        </p:nvSpPr>
        <p:spPr>
          <a:xfrm flipH="false" flipV="false" rot="0">
            <a:off x="0" y="0"/>
            <a:ext cx="2020474" cy="2000312"/>
          </a:xfrm>
          <a:custGeom>
            <a:avLst/>
            <a:gdLst/>
            <a:ahLst/>
            <a:cxnLst/>
            <a:rect r="r" b="b" t="t" l="l"/>
            <a:pathLst>
              <a:path h="2000312" w="2020474">
                <a:moveTo>
                  <a:pt x="0" y="0"/>
                </a:moveTo>
                <a:lnTo>
                  <a:pt x="2020474" y="0"/>
                </a:lnTo>
                <a:lnTo>
                  <a:pt x="2020474" y="2000312"/>
                </a:lnTo>
                <a:lnTo>
                  <a:pt x="0" y="2000312"/>
                </a:lnTo>
                <a:lnTo>
                  <a:pt x="0" y="0"/>
                </a:lnTo>
                <a:close/>
              </a:path>
            </a:pathLst>
          </a:custGeom>
          <a:blipFill>
            <a:blip r:embed="rId3"/>
            <a:stretch>
              <a:fillRect l="0" t="0" r="-10041" b="-11150"/>
            </a:stretch>
          </a:blipFill>
        </p:spPr>
      </p:sp>
      <p:sp>
        <p:nvSpPr>
          <p:cNvPr name="TextBox 13" id="13"/>
          <p:cNvSpPr txBox="true"/>
          <p:nvPr/>
        </p:nvSpPr>
        <p:spPr>
          <a:xfrm rot="0">
            <a:off x="2279122" y="1285612"/>
            <a:ext cx="4150686" cy="1418603"/>
          </a:xfrm>
          <a:prstGeom prst="rect">
            <a:avLst/>
          </a:prstGeom>
        </p:spPr>
        <p:txBody>
          <a:bodyPr anchor="t" rtlCol="false" tIns="0" lIns="0" bIns="0" rIns="0">
            <a:spAutoFit/>
          </a:bodyPr>
          <a:lstStyle/>
          <a:p>
            <a:pPr algn="l">
              <a:lnSpc>
                <a:spcPts val="11163"/>
              </a:lnSpc>
              <a:spcBef>
                <a:spcPct val="0"/>
              </a:spcBef>
            </a:pPr>
            <a:r>
              <a:rPr lang="en-US" sz="7973">
                <a:solidFill>
                  <a:srgbClr val="457FB6"/>
                </a:solidFill>
                <a:latin typeface="Poppins"/>
                <a:ea typeface="Poppins"/>
                <a:cs typeface="Poppins"/>
                <a:sym typeface="Poppins"/>
              </a:rPr>
              <a:t>Register </a:t>
            </a:r>
          </a:p>
        </p:txBody>
      </p:sp>
      <p:sp>
        <p:nvSpPr>
          <p:cNvPr name="TextBox 14" id="14"/>
          <p:cNvSpPr txBox="true"/>
          <p:nvPr/>
        </p:nvSpPr>
        <p:spPr>
          <a:xfrm rot="0">
            <a:off x="1903195" y="4598089"/>
            <a:ext cx="7451834" cy="2277164"/>
          </a:xfrm>
          <a:prstGeom prst="rect">
            <a:avLst/>
          </a:prstGeom>
        </p:spPr>
        <p:txBody>
          <a:bodyPr anchor="t" rtlCol="false" tIns="0" lIns="0" bIns="0" rIns="0">
            <a:spAutoFit/>
          </a:bodyPr>
          <a:lstStyle/>
          <a:p>
            <a:pPr algn="l">
              <a:lnSpc>
                <a:spcPts val="3639"/>
              </a:lnSpc>
              <a:spcBef>
                <a:spcPct val="0"/>
              </a:spcBef>
            </a:pPr>
            <a:r>
              <a:rPr lang="en-US" sz="2599">
                <a:solidFill>
                  <a:srgbClr val="1F2020"/>
                </a:solidFill>
                <a:latin typeface="Alice"/>
                <a:ea typeface="Alice"/>
                <a:cs typeface="Alice"/>
                <a:sym typeface="Alice"/>
              </a:rPr>
              <a:t>The Registration Page allows users to create their own accounts by choosing either Student or Lecturer. Students fill in all required details, while lecturers can skip the major field. Uploading a profile photo is optional for both.</a:t>
            </a:r>
          </a:p>
        </p:txBody>
      </p:sp>
      <p:sp>
        <p:nvSpPr>
          <p:cNvPr name="TextBox 15" id="15"/>
          <p:cNvSpPr txBox="true"/>
          <p:nvPr/>
        </p:nvSpPr>
        <p:spPr>
          <a:xfrm rot="0">
            <a:off x="5748832" y="2309225"/>
            <a:ext cx="4150686" cy="1418603"/>
          </a:xfrm>
          <a:prstGeom prst="rect">
            <a:avLst/>
          </a:prstGeom>
        </p:spPr>
        <p:txBody>
          <a:bodyPr anchor="t" rtlCol="false" tIns="0" lIns="0" bIns="0" rIns="0">
            <a:spAutoFit/>
          </a:bodyPr>
          <a:lstStyle/>
          <a:p>
            <a:pPr algn="l">
              <a:lnSpc>
                <a:spcPts val="11163"/>
              </a:lnSpc>
              <a:spcBef>
                <a:spcPct val="0"/>
              </a:spcBef>
            </a:pPr>
            <a:r>
              <a:rPr lang="en-US" sz="7973">
                <a:solidFill>
                  <a:srgbClr val="9556AF"/>
                </a:solidFill>
                <a:latin typeface="Poppins"/>
                <a:ea typeface="Poppins"/>
                <a:cs typeface="Poppins"/>
                <a:sym typeface="Poppins"/>
              </a:rPr>
              <a:t> Page</a:t>
            </a:r>
          </a:p>
        </p:txBody>
      </p:sp>
      <p:grpSp>
        <p:nvGrpSpPr>
          <p:cNvPr name="Group 16" id="16"/>
          <p:cNvGrpSpPr/>
          <p:nvPr/>
        </p:nvGrpSpPr>
        <p:grpSpPr>
          <a:xfrm rot="0">
            <a:off x="4369327" y="3922242"/>
            <a:ext cx="2801718" cy="97887"/>
            <a:chOff x="0" y="0"/>
            <a:chExt cx="737901" cy="25781"/>
          </a:xfrm>
        </p:grpSpPr>
        <p:sp>
          <p:nvSpPr>
            <p:cNvPr name="Freeform 17" id="17"/>
            <p:cNvSpPr/>
            <p:nvPr/>
          </p:nvSpPr>
          <p:spPr>
            <a:xfrm flipH="false" flipV="false" rot="0">
              <a:off x="0" y="0"/>
              <a:ext cx="737901" cy="25781"/>
            </a:xfrm>
            <a:custGeom>
              <a:avLst/>
              <a:gdLst/>
              <a:ahLst/>
              <a:cxnLst/>
              <a:rect r="r" b="b" t="t" l="l"/>
              <a:pathLst>
                <a:path h="25781" w="737901">
                  <a:moveTo>
                    <a:pt x="12891" y="0"/>
                  </a:moveTo>
                  <a:lnTo>
                    <a:pt x="725010" y="0"/>
                  </a:lnTo>
                  <a:cubicBezTo>
                    <a:pt x="728429" y="0"/>
                    <a:pt x="731708" y="1358"/>
                    <a:pt x="734125" y="3776"/>
                  </a:cubicBezTo>
                  <a:cubicBezTo>
                    <a:pt x="736543" y="6193"/>
                    <a:pt x="737901" y="9472"/>
                    <a:pt x="737901" y="12891"/>
                  </a:cubicBezTo>
                  <a:lnTo>
                    <a:pt x="737901" y="12891"/>
                  </a:lnTo>
                  <a:cubicBezTo>
                    <a:pt x="737901" y="16309"/>
                    <a:pt x="736543" y="19588"/>
                    <a:pt x="734125" y="22005"/>
                  </a:cubicBezTo>
                  <a:cubicBezTo>
                    <a:pt x="731708" y="24423"/>
                    <a:pt x="728429" y="25781"/>
                    <a:pt x="725010" y="25781"/>
                  </a:cubicBezTo>
                  <a:lnTo>
                    <a:pt x="12891" y="25781"/>
                  </a:lnTo>
                  <a:cubicBezTo>
                    <a:pt x="9472" y="25781"/>
                    <a:pt x="6193" y="24423"/>
                    <a:pt x="3776" y="22005"/>
                  </a:cubicBezTo>
                  <a:cubicBezTo>
                    <a:pt x="1358" y="19588"/>
                    <a:pt x="0" y="16309"/>
                    <a:pt x="0" y="12891"/>
                  </a:cubicBezTo>
                  <a:lnTo>
                    <a:pt x="0" y="12891"/>
                  </a:lnTo>
                  <a:cubicBezTo>
                    <a:pt x="0" y="9472"/>
                    <a:pt x="1358" y="6193"/>
                    <a:pt x="3776" y="3776"/>
                  </a:cubicBezTo>
                  <a:cubicBezTo>
                    <a:pt x="6193" y="1358"/>
                    <a:pt x="9472" y="0"/>
                    <a:pt x="12891" y="0"/>
                  </a:cubicBezTo>
                  <a:close/>
                </a:path>
              </a:pathLst>
            </a:custGeom>
            <a:solidFill>
              <a:srgbClr val="335ACF"/>
            </a:solidFill>
          </p:spPr>
        </p:sp>
        <p:sp>
          <p:nvSpPr>
            <p:cNvPr name="TextBox 18" id="18"/>
            <p:cNvSpPr txBox="true"/>
            <p:nvPr/>
          </p:nvSpPr>
          <p:spPr>
            <a:xfrm>
              <a:off x="0" y="-38100"/>
              <a:ext cx="737901" cy="6388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10643" y="5532895"/>
            <a:ext cx="9163193" cy="916319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a:grpSpLocks noChangeAspect="true"/>
          </p:cNvGrpSpPr>
          <p:nvPr/>
        </p:nvGrpSpPr>
        <p:grpSpPr>
          <a:xfrm rot="0">
            <a:off x="3491847" y="1596184"/>
            <a:ext cx="4180995" cy="8272818"/>
            <a:chOff x="0" y="0"/>
            <a:chExt cx="2620010" cy="5184140"/>
          </a:xfrm>
        </p:grpSpPr>
        <p:sp>
          <p:nvSpPr>
            <p:cNvPr name="Freeform 9" id="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0" id="10"/>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158" r="0" b="-158"/>
              </a:stretch>
            </a:blipFill>
          </p:spPr>
        </p:sp>
        <p:sp>
          <p:nvSpPr>
            <p:cNvPr name="Freeform 11" id="1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2" id="12"/>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3" id="1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4" id="1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5" id="1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6" id="1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7" id="1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18" id="18"/>
          <p:cNvGrpSpPr>
            <a:grpSpLocks noChangeAspect="true"/>
          </p:cNvGrpSpPr>
          <p:nvPr/>
        </p:nvGrpSpPr>
        <p:grpSpPr>
          <a:xfrm rot="0">
            <a:off x="1760418" y="4100085"/>
            <a:ext cx="2915550" cy="5768917"/>
            <a:chOff x="0" y="0"/>
            <a:chExt cx="2620010" cy="5184140"/>
          </a:xfrm>
        </p:grpSpPr>
        <p:sp>
          <p:nvSpPr>
            <p:cNvPr name="Freeform 19" id="1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0" id="20"/>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35" t="0" r="-235" b="0"/>
              </a:stretch>
            </a:blipFill>
          </p:spPr>
        </p:sp>
        <p:sp>
          <p:nvSpPr>
            <p:cNvPr name="Freeform 21" id="2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2" id="22"/>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3" id="2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4" id="2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5" id="2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6" id="2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7" id="2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8" id="28"/>
          <p:cNvGrpSpPr>
            <a:grpSpLocks noChangeAspect="true"/>
          </p:cNvGrpSpPr>
          <p:nvPr/>
        </p:nvGrpSpPr>
        <p:grpSpPr>
          <a:xfrm rot="0">
            <a:off x="6528297" y="5339641"/>
            <a:ext cx="2289092" cy="4529361"/>
            <a:chOff x="0" y="0"/>
            <a:chExt cx="2620010" cy="5184140"/>
          </a:xfrm>
        </p:grpSpPr>
        <p:sp>
          <p:nvSpPr>
            <p:cNvPr name="Freeform 29" id="2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0" id="30"/>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760" r="0" b="-760"/>
              </a:stretch>
            </a:blipFill>
          </p:spPr>
        </p:sp>
        <p:sp>
          <p:nvSpPr>
            <p:cNvPr name="Freeform 31" id="3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2" id="32"/>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3" id="3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5" id="3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6" id="3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7" id="3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38" id="38"/>
          <p:cNvSpPr/>
          <p:nvPr/>
        </p:nvSpPr>
        <p:spPr>
          <a:xfrm flipH="false" flipV="false" rot="0">
            <a:off x="538136" y="203801"/>
            <a:ext cx="2306247" cy="2223356"/>
          </a:xfrm>
          <a:custGeom>
            <a:avLst/>
            <a:gdLst/>
            <a:ahLst/>
            <a:cxnLst/>
            <a:rect r="r" b="b" t="t" l="l"/>
            <a:pathLst>
              <a:path h="2223356" w="2306247">
                <a:moveTo>
                  <a:pt x="0" y="0"/>
                </a:moveTo>
                <a:lnTo>
                  <a:pt x="2306247" y="0"/>
                </a:lnTo>
                <a:lnTo>
                  <a:pt x="2306247" y="2223356"/>
                </a:lnTo>
                <a:lnTo>
                  <a:pt x="0" y="2223356"/>
                </a:lnTo>
                <a:lnTo>
                  <a:pt x="0" y="0"/>
                </a:lnTo>
                <a:close/>
              </a:path>
            </a:pathLst>
          </a:custGeom>
          <a:blipFill>
            <a:blip r:embed="rId5"/>
            <a:stretch>
              <a:fillRect l="0" t="0" r="-5997" b="-9949"/>
            </a:stretch>
          </a:blipFill>
        </p:spPr>
      </p:sp>
      <p:sp>
        <p:nvSpPr>
          <p:cNvPr name="TextBox 39" id="39"/>
          <p:cNvSpPr txBox="true"/>
          <p:nvPr/>
        </p:nvSpPr>
        <p:spPr>
          <a:xfrm rot="0">
            <a:off x="11501088" y="1718171"/>
            <a:ext cx="3657250" cy="2084366"/>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This is  our Admin’s Dashboard</a:t>
            </a:r>
          </a:p>
        </p:txBody>
      </p:sp>
      <p:sp>
        <p:nvSpPr>
          <p:cNvPr name="TextBox 40" id="40"/>
          <p:cNvSpPr txBox="true"/>
          <p:nvPr/>
        </p:nvSpPr>
        <p:spPr>
          <a:xfrm rot="0">
            <a:off x="11258044" y="4494050"/>
            <a:ext cx="5263403" cy="3798571"/>
          </a:xfrm>
          <a:prstGeom prst="rect">
            <a:avLst/>
          </a:prstGeom>
        </p:spPr>
        <p:txBody>
          <a:bodyPr anchor="t" rtlCol="false" tIns="0" lIns="0" bIns="0" rIns="0">
            <a:spAutoFit/>
          </a:bodyPr>
          <a:lstStyle/>
          <a:p>
            <a:pPr algn="l">
              <a:lnSpc>
                <a:spcPts val="3779"/>
              </a:lnSpc>
              <a:spcBef>
                <a:spcPct val="0"/>
              </a:spcBef>
            </a:pPr>
            <a:r>
              <a:rPr lang="en-US" sz="2699">
                <a:solidFill>
                  <a:srgbClr val="1F2020"/>
                </a:solidFill>
                <a:latin typeface="Open Sans"/>
                <a:ea typeface="Open Sans"/>
                <a:cs typeface="Open Sans"/>
                <a:sym typeface="Open Sans"/>
              </a:rPr>
              <a:t>The Admin Dashboard allows administrators to search users by ID, update their name, major, and department, change passwords, delete profiles, and create new student or lecturer accounts—all in one place for easy management.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831" y="5143500"/>
            <a:ext cx="18439831" cy="5143500"/>
            <a:chOff x="0" y="0"/>
            <a:chExt cx="4856581" cy="1354667"/>
          </a:xfrm>
        </p:grpSpPr>
        <p:sp>
          <p:nvSpPr>
            <p:cNvPr name="Freeform 3" id="3"/>
            <p:cNvSpPr/>
            <p:nvPr/>
          </p:nvSpPr>
          <p:spPr>
            <a:xfrm flipH="false" flipV="false" rot="0">
              <a:off x="0" y="0"/>
              <a:ext cx="4856581" cy="1354667"/>
            </a:xfrm>
            <a:custGeom>
              <a:avLst/>
              <a:gdLst/>
              <a:ahLst/>
              <a:cxnLst/>
              <a:rect r="r" b="b" t="t" l="l"/>
              <a:pathLst>
                <a:path h="1354667" w="4856581">
                  <a:moveTo>
                    <a:pt x="0" y="0"/>
                  </a:moveTo>
                  <a:lnTo>
                    <a:pt x="4856581" y="0"/>
                  </a:lnTo>
                  <a:lnTo>
                    <a:pt x="4856581" y="1354667"/>
                  </a:lnTo>
                  <a:lnTo>
                    <a:pt x="0" y="1354667"/>
                  </a:lnTo>
                  <a:close/>
                </a:path>
              </a:pathLst>
            </a:custGeom>
            <a:solidFill>
              <a:srgbClr val="335ACF"/>
            </a:solidFill>
          </p:spPr>
        </p:sp>
        <p:sp>
          <p:nvSpPr>
            <p:cNvPr name="TextBox 4" id="4"/>
            <p:cNvSpPr txBox="true"/>
            <p:nvPr/>
          </p:nvSpPr>
          <p:spPr>
            <a:xfrm>
              <a:off x="0" y="-38100"/>
              <a:ext cx="4856581" cy="1392767"/>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2146004" y="2517928"/>
            <a:ext cx="2391290" cy="4731579"/>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0" r="0" b="-2754"/>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15" id="15"/>
          <p:cNvGrpSpPr>
            <a:grpSpLocks noChangeAspect="true"/>
          </p:cNvGrpSpPr>
          <p:nvPr/>
        </p:nvGrpSpPr>
        <p:grpSpPr>
          <a:xfrm rot="0">
            <a:off x="5047179" y="2517928"/>
            <a:ext cx="2391290" cy="4731579"/>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0" t="0" r="0" b="-1994"/>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5" id="25"/>
          <p:cNvGrpSpPr>
            <a:grpSpLocks noChangeAspect="true"/>
          </p:cNvGrpSpPr>
          <p:nvPr/>
        </p:nvGrpSpPr>
        <p:grpSpPr>
          <a:xfrm rot="0">
            <a:off x="7948355" y="2517928"/>
            <a:ext cx="2391290" cy="4731579"/>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0" r="0" b="-3023"/>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5" id="35"/>
          <p:cNvGrpSpPr>
            <a:grpSpLocks noChangeAspect="true"/>
          </p:cNvGrpSpPr>
          <p:nvPr/>
        </p:nvGrpSpPr>
        <p:grpSpPr>
          <a:xfrm rot="0">
            <a:off x="10849530" y="2517928"/>
            <a:ext cx="2391290" cy="4731579"/>
            <a:chOff x="0" y="0"/>
            <a:chExt cx="2620010" cy="5184140"/>
          </a:xfrm>
        </p:grpSpPr>
        <p:sp>
          <p:nvSpPr>
            <p:cNvPr name="Freeform 36" id="3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7" id="3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0" r="0" b="-1994"/>
              </a:stretch>
            </a:blipFill>
          </p:spPr>
        </p:sp>
        <p:sp>
          <p:nvSpPr>
            <p:cNvPr name="Freeform 38" id="3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9" id="3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0" id="4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2" id="4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3" id="4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4" id="4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5" id="45"/>
          <p:cNvGrpSpPr>
            <a:grpSpLocks noChangeAspect="true"/>
          </p:cNvGrpSpPr>
          <p:nvPr/>
        </p:nvGrpSpPr>
        <p:grpSpPr>
          <a:xfrm rot="0">
            <a:off x="13750705" y="2517928"/>
            <a:ext cx="2391290" cy="4731579"/>
            <a:chOff x="0" y="0"/>
            <a:chExt cx="2620010" cy="5184140"/>
          </a:xfrm>
        </p:grpSpPr>
        <p:sp>
          <p:nvSpPr>
            <p:cNvPr name="Freeform 46" id="4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7" id="4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0" t="0" r="0" b="-3172"/>
              </a:stretch>
            </a:blipFill>
          </p:spPr>
        </p:sp>
        <p:sp>
          <p:nvSpPr>
            <p:cNvPr name="Freeform 48" id="4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9" id="4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50" id="5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51" id="5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52" id="5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3" id="5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4" id="5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55" id="55"/>
          <p:cNvGrpSpPr/>
          <p:nvPr/>
        </p:nvGrpSpPr>
        <p:grpSpPr>
          <a:xfrm rot="0">
            <a:off x="8606406" y="2096045"/>
            <a:ext cx="1042538" cy="47625"/>
            <a:chOff x="0" y="0"/>
            <a:chExt cx="274578" cy="12543"/>
          </a:xfrm>
        </p:grpSpPr>
        <p:sp>
          <p:nvSpPr>
            <p:cNvPr name="Freeform 56" id="56"/>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57" id="57"/>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Freeform 58" id="58"/>
          <p:cNvSpPr/>
          <p:nvPr/>
        </p:nvSpPr>
        <p:spPr>
          <a:xfrm flipH="false" flipV="false" rot="0">
            <a:off x="-151831" y="-151252"/>
            <a:ext cx="2036112" cy="2015770"/>
          </a:xfrm>
          <a:custGeom>
            <a:avLst/>
            <a:gdLst/>
            <a:ahLst/>
            <a:cxnLst/>
            <a:rect r="r" b="b" t="t" l="l"/>
            <a:pathLst>
              <a:path h="2015770" w="2036112">
                <a:moveTo>
                  <a:pt x="0" y="0"/>
                </a:moveTo>
                <a:lnTo>
                  <a:pt x="2036113" y="0"/>
                </a:lnTo>
                <a:lnTo>
                  <a:pt x="2036113" y="2015770"/>
                </a:lnTo>
                <a:lnTo>
                  <a:pt x="0" y="2015770"/>
                </a:lnTo>
                <a:lnTo>
                  <a:pt x="0" y="0"/>
                </a:lnTo>
                <a:close/>
              </a:path>
            </a:pathLst>
          </a:custGeom>
          <a:blipFill>
            <a:blip r:embed="rId7"/>
            <a:stretch>
              <a:fillRect l="0" t="0" r="-9196" b="-10298"/>
            </a:stretch>
          </a:blipFill>
        </p:spPr>
      </p:sp>
      <p:sp>
        <p:nvSpPr>
          <p:cNvPr name="TextBox 59" id="59"/>
          <p:cNvSpPr txBox="true"/>
          <p:nvPr/>
        </p:nvSpPr>
        <p:spPr>
          <a:xfrm rot="0">
            <a:off x="5729414" y="990600"/>
            <a:ext cx="6427931" cy="731773"/>
          </a:xfrm>
          <a:prstGeom prst="rect">
            <a:avLst/>
          </a:prstGeom>
        </p:spPr>
        <p:txBody>
          <a:bodyPr anchor="t" rtlCol="false" tIns="0" lIns="0" bIns="0" rIns="0">
            <a:spAutoFit/>
          </a:bodyPr>
          <a:lstStyle/>
          <a:p>
            <a:pPr algn="ctr">
              <a:lnSpc>
                <a:spcPts val="5336"/>
              </a:lnSpc>
            </a:pPr>
            <a:r>
              <a:rPr lang="en-US" b="true" sz="4560">
                <a:solidFill>
                  <a:srgbClr val="2B3D2E"/>
                </a:solidFill>
                <a:latin typeface="Poppins Bold"/>
                <a:ea typeface="Poppins Bold"/>
                <a:cs typeface="Poppins Bold"/>
                <a:sym typeface="Poppins Bold"/>
              </a:rPr>
              <a:t>Lecturer Sections</a:t>
            </a:r>
          </a:p>
        </p:txBody>
      </p:sp>
      <p:sp>
        <p:nvSpPr>
          <p:cNvPr name="TextBox 60" id="60"/>
          <p:cNvSpPr txBox="true"/>
          <p:nvPr/>
        </p:nvSpPr>
        <p:spPr>
          <a:xfrm rot="0">
            <a:off x="5729414" y="7677150"/>
            <a:ext cx="9055508" cy="2157276"/>
          </a:xfrm>
          <a:prstGeom prst="rect">
            <a:avLst/>
          </a:prstGeom>
        </p:spPr>
        <p:txBody>
          <a:bodyPr anchor="t" rtlCol="false" tIns="0" lIns="0" bIns="0" rIns="0">
            <a:spAutoFit/>
          </a:bodyPr>
          <a:lstStyle/>
          <a:p>
            <a:pPr algn="l">
              <a:lnSpc>
                <a:spcPts val="2916"/>
              </a:lnSpc>
            </a:pPr>
            <a:r>
              <a:rPr lang="en-US" sz="2083">
                <a:solidFill>
                  <a:srgbClr val="F7F4ED"/>
                </a:solidFill>
                <a:latin typeface="Open Sans"/>
                <a:ea typeface="Open Sans"/>
                <a:cs typeface="Open Sans"/>
                <a:sym typeface="Open Sans"/>
              </a:rPr>
              <a:t>The Lecturer Tab includes five sections: </a:t>
            </a:r>
          </a:p>
          <a:p>
            <a:pPr algn="l" marL="449734" indent="-224867" lvl="1">
              <a:lnSpc>
                <a:spcPts val="2916"/>
              </a:lnSpc>
              <a:buFont typeface="Arial"/>
              <a:buChar char="•"/>
            </a:pPr>
            <a:r>
              <a:rPr lang="en-US" sz="2083">
                <a:solidFill>
                  <a:srgbClr val="F7F4ED"/>
                </a:solidFill>
                <a:latin typeface="Open Sans"/>
                <a:ea typeface="Open Sans"/>
                <a:cs typeface="Open Sans"/>
                <a:sym typeface="Open Sans"/>
              </a:rPr>
              <a:t>Profile for personal details,</a:t>
            </a:r>
          </a:p>
          <a:p>
            <a:pPr algn="l" marL="449734" indent="-224867" lvl="1">
              <a:lnSpc>
                <a:spcPts val="2916"/>
              </a:lnSpc>
              <a:buFont typeface="Arial"/>
              <a:buChar char="•"/>
            </a:pPr>
            <a:r>
              <a:rPr lang="en-US" sz="2083">
                <a:solidFill>
                  <a:srgbClr val="F7F4ED"/>
                </a:solidFill>
                <a:latin typeface="Open Sans"/>
                <a:ea typeface="Open Sans"/>
                <a:cs typeface="Open Sans"/>
                <a:sym typeface="Open Sans"/>
              </a:rPr>
              <a:t>QR for viewing the lecturer’s unique ID QR code </a:t>
            </a:r>
          </a:p>
          <a:p>
            <a:pPr algn="l" marL="449734" indent="-224867" lvl="1">
              <a:lnSpc>
                <a:spcPts val="2916"/>
              </a:lnSpc>
              <a:buFont typeface="Arial"/>
              <a:buChar char="•"/>
            </a:pPr>
            <a:r>
              <a:rPr lang="en-US" sz="2083">
                <a:solidFill>
                  <a:srgbClr val="F7F4ED"/>
                </a:solidFill>
                <a:latin typeface="Open Sans"/>
                <a:ea typeface="Open Sans"/>
                <a:cs typeface="Open Sans"/>
                <a:sym typeface="Open Sans"/>
              </a:rPr>
              <a:t>Generate for creating attendance codes </a:t>
            </a:r>
          </a:p>
          <a:p>
            <a:pPr algn="l" marL="449734" indent="-224867" lvl="1">
              <a:lnSpc>
                <a:spcPts val="2916"/>
              </a:lnSpc>
              <a:buFont typeface="Arial"/>
              <a:buChar char="•"/>
            </a:pPr>
            <a:r>
              <a:rPr lang="en-US" sz="2083">
                <a:solidFill>
                  <a:srgbClr val="F7F4ED"/>
                </a:solidFill>
                <a:latin typeface="Open Sans"/>
                <a:ea typeface="Open Sans"/>
                <a:cs typeface="Open Sans"/>
                <a:sym typeface="Open Sans"/>
              </a:rPr>
              <a:t>View for checking student attendance records</a:t>
            </a:r>
          </a:p>
          <a:p>
            <a:pPr algn="l" marL="449734" indent="-224867" lvl="1">
              <a:lnSpc>
                <a:spcPts val="2916"/>
              </a:lnSpc>
              <a:buFont typeface="Arial"/>
              <a:buChar char="•"/>
            </a:pPr>
            <a:r>
              <a:rPr lang="en-US" sz="2083">
                <a:solidFill>
                  <a:srgbClr val="F7F4ED"/>
                </a:solidFill>
                <a:latin typeface="Open Sans"/>
                <a:ea typeface="Open Sans"/>
                <a:cs typeface="Open Sans"/>
                <a:sym typeface="Open Sans"/>
              </a:rPr>
              <a:t> Emergency for accessing important campus contacts.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451402" y="0"/>
            <a:ext cx="8260763" cy="10287000"/>
            <a:chOff x="0" y="0"/>
            <a:chExt cx="2175674" cy="2709333"/>
          </a:xfrm>
        </p:grpSpPr>
        <p:sp>
          <p:nvSpPr>
            <p:cNvPr name="Freeform 9" id="9"/>
            <p:cNvSpPr/>
            <p:nvPr/>
          </p:nvSpPr>
          <p:spPr>
            <a:xfrm flipH="false" flipV="false" rot="0">
              <a:off x="0" y="0"/>
              <a:ext cx="2175674" cy="2709333"/>
            </a:xfrm>
            <a:custGeom>
              <a:avLst/>
              <a:gdLst/>
              <a:ahLst/>
              <a:cxnLst/>
              <a:rect r="r" b="b" t="t" l="l"/>
              <a:pathLst>
                <a:path h="2709333" w="2175674">
                  <a:moveTo>
                    <a:pt x="0" y="0"/>
                  </a:moveTo>
                  <a:lnTo>
                    <a:pt x="2175674" y="0"/>
                  </a:lnTo>
                  <a:lnTo>
                    <a:pt x="2175674" y="2709333"/>
                  </a:lnTo>
                  <a:lnTo>
                    <a:pt x="0" y="2709333"/>
                  </a:lnTo>
                  <a:close/>
                </a:path>
              </a:pathLst>
            </a:custGeom>
            <a:solidFill>
              <a:srgbClr val="335ACF"/>
            </a:solidFill>
          </p:spPr>
        </p:sp>
        <p:sp>
          <p:nvSpPr>
            <p:cNvPr name="TextBox 10" id="10"/>
            <p:cNvSpPr txBox="true"/>
            <p:nvPr/>
          </p:nvSpPr>
          <p:spPr>
            <a:xfrm>
              <a:off x="0" y="-38100"/>
              <a:ext cx="2175674" cy="27474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8177932" y="8597752"/>
            <a:ext cx="110068" cy="660548"/>
            <a:chOff x="0" y="0"/>
            <a:chExt cx="28989" cy="173972"/>
          </a:xfrm>
        </p:grpSpPr>
        <p:sp>
          <p:nvSpPr>
            <p:cNvPr name="Freeform 12" id="12"/>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3" id="13"/>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4" id="14"/>
          <p:cNvGrpSpPr>
            <a:grpSpLocks noChangeAspect="true"/>
          </p:cNvGrpSpPr>
          <p:nvPr/>
        </p:nvGrpSpPr>
        <p:grpSpPr>
          <a:xfrm rot="0">
            <a:off x="185477" y="2523490"/>
            <a:ext cx="2580075" cy="5105121"/>
            <a:chOff x="0" y="0"/>
            <a:chExt cx="2620010" cy="5184140"/>
          </a:xfrm>
        </p:grpSpPr>
        <p:sp>
          <p:nvSpPr>
            <p:cNvPr name="Freeform 15" id="15"/>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6" id="16"/>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348" r="0" b="-2405"/>
              </a:stretch>
            </a:blipFill>
          </p:spPr>
        </p:sp>
        <p:sp>
          <p:nvSpPr>
            <p:cNvPr name="Freeform 17" id="17"/>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8" id="18"/>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9" id="19"/>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0" id="20"/>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2" id="22"/>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3" id="23"/>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4" id="24"/>
          <p:cNvGrpSpPr>
            <a:grpSpLocks noChangeAspect="true"/>
          </p:cNvGrpSpPr>
          <p:nvPr/>
        </p:nvGrpSpPr>
        <p:grpSpPr>
          <a:xfrm rot="0">
            <a:off x="2899364" y="2523490"/>
            <a:ext cx="2580075" cy="5105121"/>
            <a:chOff x="0" y="0"/>
            <a:chExt cx="2620010" cy="5184140"/>
          </a:xfrm>
        </p:grpSpPr>
        <p:sp>
          <p:nvSpPr>
            <p:cNvPr name="Freeform 25" id="25"/>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6" id="26"/>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0" t="0" r="0" b="-2754"/>
              </a:stretch>
            </a:blipFill>
          </p:spPr>
        </p:sp>
        <p:sp>
          <p:nvSpPr>
            <p:cNvPr name="Freeform 27" id="27"/>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8" id="28"/>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9" id="29"/>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0" id="30"/>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2" id="32"/>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3" id="33"/>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4" id="34"/>
          <p:cNvGrpSpPr>
            <a:grpSpLocks noChangeAspect="true"/>
          </p:cNvGrpSpPr>
          <p:nvPr/>
        </p:nvGrpSpPr>
        <p:grpSpPr>
          <a:xfrm rot="0">
            <a:off x="5638515" y="2523490"/>
            <a:ext cx="2580075" cy="5105121"/>
            <a:chOff x="0" y="0"/>
            <a:chExt cx="2620010" cy="5184140"/>
          </a:xfrm>
        </p:grpSpPr>
        <p:sp>
          <p:nvSpPr>
            <p:cNvPr name="Freeform 35" id="35"/>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6" id="36"/>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0" r="-77" b="0"/>
              </a:stretch>
            </a:blipFill>
          </p:spPr>
        </p:sp>
        <p:sp>
          <p:nvSpPr>
            <p:cNvPr name="Freeform 37" id="37"/>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8" id="38"/>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9" id="39"/>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0" id="40"/>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2" id="42"/>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3" id="43"/>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4" id="44"/>
          <p:cNvGrpSpPr/>
          <p:nvPr/>
        </p:nvGrpSpPr>
        <p:grpSpPr>
          <a:xfrm rot="0">
            <a:off x="11551926" y="3984685"/>
            <a:ext cx="1042538" cy="47625"/>
            <a:chOff x="0" y="0"/>
            <a:chExt cx="274578" cy="12543"/>
          </a:xfrm>
        </p:grpSpPr>
        <p:sp>
          <p:nvSpPr>
            <p:cNvPr name="Freeform 45" id="45"/>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6" id="46"/>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11551926" y="4818459"/>
            <a:ext cx="677751" cy="677751"/>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49" id="49"/>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grpSp>
        <p:nvGrpSpPr>
          <p:cNvPr name="Group 50" id="50"/>
          <p:cNvGrpSpPr/>
          <p:nvPr/>
        </p:nvGrpSpPr>
        <p:grpSpPr>
          <a:xfrm rot="0">
            <a:off x="11551926" y="6028813"/>
            <a:ext cx="677751" cy="67775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2" id="52"/>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grpSp>
        <p:nvGrpSpPr>
          <p:cNvPr name="Group 53" id="53"/>
          <p:cNvGrpSpPr/>
          <p:nvPr/>
        </p:nvGrpSpPr>
        <p:grpSpPr>
          <a:xfrm rot="0">
            <a:off x="11551926" y="7239166"/>
            <a:ext cx="677751" cy="67775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5" id="55"/>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grpSp>
        <p:nvGrpSpPr>
          <p:cNvPr name="Group 56" id="56"/>
          <p:cNvGrpSpPr>
            <a:grpSpLocks noChangeAspect="true"/>
          </p:cNvGrpSpPr>
          <p:nvPr/>
        </p:nvGrpSpPr>
        <p:grpSpPr>
          <a:xfrm rot="0">
            <a:off x="8419402" y="2523490"/>
            <a:ext cx="2580075" cy="5105121"/>
            <a:chOff x="0" y="0"/>
            <a:chExt cx="2620010" cy="5184140"/>
          </a:xfrm>
        </p:grpSpPr>
        <p:sp>
          <p:nvSpPr>
            <p:cNvPr name="Freeform 57" id="57"/>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8" id="58"/>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0" r="0" b="-1521"/>
              </a:stretch>
            </a:blipFill>
          </p:spPr>
        </p:sp>
        <p:sp>
          <p:nvSpPr>
            <p:cNvPr name="Freeform 59" id="59"/>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60" id="60"/>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61" id="61"/>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62" id="62"/>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63" id="63"/>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64" id="64"/>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65" id="65"/>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66" id="66"/>
          <p:cNvSpPr/>
          <p:nvPr/>
        </p:nvSpPr>
        <p:spPr>
          <a:xfrm flipH="false" flipV="false" rot="0">
            <a:off x="-300391" y="-293315"/>
            <a:ext cx="2626185" cy="2382658"/>
          </a:xfrm>
          <a:custGeom>
            <a:avLst/>
            <a:gdLst/>
            <a:ahLst/>
            <a:cxnLst/>
            <a:rect r="r" b="b" t="t" l="l"/>
            <a:pathLst>
              <a:path h="2382658" w="2626185">
                <a:moveTo>
                  <a:pt x="0" y="0"/>
                </a:moveTo>
                <a:lnTo>
                  <a:pt x="2626185" y="0"/>
                </a:lnTo>
                <a:lnTo>
                  <a:pt x="2626185" y="2382658"/>
                </a:lnTo>
                <a:lnTo>
                  <a:pt x="0" y="2382658"/>
                </a:lnTo>
                <a:lnTo>
                  <a:pt x="0" y="0"/>
                </a:lnTo>
                <a:close/>
              </a:path>
            </a:pathLst>
          </a:custGeom>
          <a:blipFill>
            <a:blip r:embed="rId6"/>
            <a:stretch>
              <a:fillRect l="0" t="0" r="-2912" b="-13430"/>
            </a:stretch>
          </a:blipFill>
        </p:spPr>
      </p:sp>
      <p:sp>
        <p:nvSpPr>
          <p:cNvPr name="TextBox 67" id="67"/>
          <p:cNvSpPr txBox="true"/>
          <p:nvPr/>
        </p:nvSpPr>
        <p:spPr>
          <a:xfrm rot="0">
            <a:off x="11551926" y="2331983"/>
            <a:ext cx="4982921" cy="731773"/>
          </a:xfrm>
          <a:prstGeom prst="rect">
            <a:avLst/>
          </a:prstGeom>
        </p:spPr>
        <p:txBody>
          <a:bodyPr anchor="t" rtlCol="false" tIns="0" lIns="0" bIns="0" rIns="0">
            <a:spAutoFit/>
          </a:bodyPr>
          <a:lstStyle/>
          <a:p>
            <a:pPr algn="l">
              <a:lnSpc>
                <a:spcPts val="5336"/>
              </a:lnSpc>
            </a:pPr>
            <a:r>
              <a:rPr lang="en-US" sz="4560" b="true">
                <a:solidFill>
                  <a:srgbClr val="F7F4ED"/>
                </a:solidFill>
                <a:latin typeface="Poppins Bold"/>
                <a:ea typeface="Poppins Bold"/>
                <a:cs typeface="Poppins Bold"/>
                <a:sym typeface="Poppins Bold"/>
              </a:rPr>
              <a:t>Student </a:t>
            </a:r>
          </a:p>
        </p:txBody>
      </p:sp>
      <p:sp>
        <p:nvSpPr>
          <p:cNvPr name="TextBox 68" id="68"/>
          <p:cNvSpPr txBox="true"/>
          <p:nvPr/>
        </p:nvSpPr>
        <p:spPr>
          <a:xfrm rot="0">
            <a:off x="13293570" y="2796373"/>
            <a:ext cx="3383274" cy="827097"/>
          </a:xfrm>
          <a:prstGeom prst="rect">
            <a:avLst/>
          </a:prstGeom>
        </p:spPr>
        <p:txBody>
          <a:bodyPr anchor="t" rtlCol="false" tIns="0" lIns="0" bIns="0" rIns="0">
            <a:spAutoFit/>
          </a:bodyPr>
          <a:lstStyle/>
          <a:p>
            <a:pPr algn="ctr">
              <a:lnSpc>
                <a:spcPts val="6383"/>
              </a:lnSpc>
              <a:spcBef>
                <a:spcPct val="0"/>
              </a:spcBef>
            </a:pPr>
            <a:r>
              <a:rPr lang="en-US" b="true" sz="4559">
                <a:solidFill>
                  <a:srgbClr val="FFFFFF"/>
                </a:solidFill>
                <a:latin typeface="Poppins Bold"/>
                <a:ea typeface="Poppins Bold"/>
                <a:cs typeface="Poppins Bold"/>
                <a:sym typeface="Poppins Bold"/>
              </a:rPr>
              <a:t>Sections</a:t>
            </a:r>
          </a:p>
        </p:txBody>
      </p:sp>
      <p:sp>
        <p:nvSpPr>
          <p:cNvPr name="TextBox 69" id="69"/>
          <p:cNvSpPr txBox="true"/>
          <p:nvPr/>
        </p:nvSpPr>
        <p:spPr>
          <a:xfrm rot="0">
            <a:off x="11890802" y="4183918"/>
            <a:ext cx="6188811" cy="2856015"/>
          </a:xfrm>
          <a:prstGeom prst="rect">
            <a:avLst/>
          </a:prstGeom>
        </p:spPr>
        <p:txBody>
          <a:bodyPr anchor="t" rtlCol="false" tIns="0" lIns="0" bIns="0" rIns="0">
            <a:spAutoFit/>
          </a:bodyPr>
          <a:lstStyle/>
          <a:p>
            <a:pPr algn="ctr">
              <a:lnSpc>
                <a:spcPts val="3246"/>
              </a:lnSpc>
              <a:spcBef>
                <a:spcPct val="0"/>
              </a:spcBef>
            </a:pPr>
            <a:r>
              <a:rPr lang="en-US" b="true" sz="2318">
                <a:solidFill>
                  <a:srgbClr val="FFFFFF"/>
                </a:solidFill>
                <a:latin typeface="Canva Sans Bold"/>
                <a:ea typeface="Canva Sans Bold"/>
                <a:cs typeface="Canva Sans Bold"/>
                <a:sym typeface="Canva Sans Bold"/>
              </a:rPr>
              <a:t>The Student Tab has f</a:t>
            </a:r>
            <a:r>
              <a:rPr lang="en-US" b="true" sz="2318">
                <a:solidFill>
                  <a:srgbClr val="FFFFFF"/>
                </a:solidFill>
                <a:latin typeface="Canva Sans Bold"/>
                <a:ea typeface="Canva Sans Bold"/>
                <a:cs typeface="Canva Sans Bold"/>
                <a:sym typeface="Canva Sans Bold"/>
              </a:rPr>
              <a:t>our sections</a:t>
            </a:r>
          </a:p>
          <a:p>
            <a:pPr algn="l" marL="500633" indent="-250317" lvl="1">
              <a:lnSpc>
                <a:spcPts val="3246"/>
              </a:lnSpc>
              <a:buFont typeface="Arial"/>
              <a:buChar char="•"/>
            </a:pPr>
            <a:r>
              <a:rPr lang="en-US" sz="2318">
                <a:solidFill>
                  <a:srgbClr val="FFFFFF"/>
                </a:solidFill>
                <a:latin typeface="Canva Sans"/>
                <a:ea typeface="Canva Sans"/>
                <a:cs typeface="Canva Sans"/>
                <a:sym typeface="Canva Sans"/>
              </a:rPr>
              <a:t> </a:t>
            </a:r>
            <a:r>
              <a:rPr lang="en-US" sz="2318">
                <a:solidFill>
                  <a:srgbClr val="FFFFFF"/>
                </a:solidFill>
                <a:latin typeface="Canva Sans"/>
                <a:ea typeface="Canva Sans"/>
                <a:cs typeface="Canva Sans"/>
                <a:sym typeface="Canva Sans"/>
              </a:rPr>
              <a:t>Profile for personal details</a:t>
            </a:r>
          </a:p>
          <a:p>
            <a:pPr algn="l" marL="500633" indent="-250317" lvl="1">
              <a:lnSpc>
                <a:spcPts val="3246"/>
              </a:lnSpc>
              <a:buFont typeface="Arial"/>
              <a:buChar char="•"/>
            </a:pPr>
            <a:r>
              <a:rPr lang="en-US" sz="2318">
                <a:solidFill>
                  <a:srgbClr val="FFFFFF"/>
                </a:solidFill>
                <a:latin typeface="Canva Sans"/>
                <a:ea typeface="Canva Sans"/>
                <a:cs typeface="Canva Sans"/>
                <a:sym typeface="Canva Sans"/>
              </a:rPr>
              <a:t>QR for the student’s unique ID QR code</a:t>
            </a:r>
          </a:p>
          <a:p>
            <a:pPr algn="l" marL="500633" indent="-250317" lvl="1">
              <a:lnSpc>
                <a:spcPts val="3246"/>
              </a:lnSpc>
              <a:buFont typeface="Arial"/>
              <a:buChar char="•"/>
            </a:pPr>
            <a:r>
              <a:rPr lang="en-US" sz="2318">
                <a:solidFill>
                  <a:srgbClr val="FFFFFF"/>
                </a:solidFill>
                <a:latin typeface="Canva Sans"/>
                <a:ea typeface="Canva Sans"/>
                <a:cs typeface="Canva Sans"/>
                <a:sym typeface="Canva Sans"/>
              </a:rPr>
              <a:t>Attendance for submitting the lecturer’s attendance code</a:t>
            </a:r>
          </a:p>
          <a:p>
            <a:pPr algn="l" marL="500633" indent="-250317" lvl="1">
              <a:lnSpc>
                <a:spcPts val="3246"/>
              </a:lnSpc>
              <a:buFont typeface="Arial"/>
              <a:buChar char="•"/>
            </a:pPr>
            <a:r>
              <a:rPr lang="en-US" sz="2318">
                <a:solidFill>
                  <a:srgbClr val="FFFFFF"/>
                </a:solidFill>
                <a:latin typeface="Canva Sans"/>
                <a:ea typeface="Canva Sans"/>
                <a:cs typeface="Canva Sans"/>
                <a:sym typeface="Canva Sans"/>
              </a:rPr>
              <a:t> Emergency for quick access to important campus contacts.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1" y="-69921"/>
            <a:ext cx="2235761" cy="2197242"/>
          </a:xfrm>
          <a:custGeom>
            <a:avLst/>
            <a:gdLst/>
            <a:ahLst/>
            <a:cxnLst/>
            <a:rect r="r" b="b" t="t" l="l"/>
            <a:pathLst>
              <a:path h="2197242" w="2235761">
                <a:moveTo>
                  <a:pt x="0" y="0"/>
                </a:moveTo>
                <a:lnTo>
                  <a:pt x="2235762" y="0"/>
                </a:lnTo>
                <a:lnTo>
                  <a:pt x="2235762" y="2197242"/>
                </a:lnTo>
                <a:lnTo>
                  <a:pt x="0" y="2197242"/>
                </a:lnTo>
                <a:lnTo>
                  <a:pt x="0" y="0"/>
                </a:lnTo>
                <a:close/>
              </a:path>
            </a:pathLst>
          </a:custGeom>
          <a:blipFill>
            <a:blip r:embed="rId2"/>
            <a:stretch>
              <a:fillRect l="0" t="0" r="-6570" b="-8438"/>
            </a:stretch>
          </a:blipFill>
        </p:spPr>
      </p:sp>
      <p:grpSp>
        <p:nvGrpSpPr>
          <p:cNvPr name="Group 6" id="6"/>
          <p:cNvGrpSpPr/>
          <p:nvPr/>
        </p:nvGrpSpPr>
        <p:grpSpPr>
          <a:xfrm rot="0">
            <a:off x="0" y="5143500"/>
            <a:ext cx="18320651" cy="5143500"/>
            <a:chOff x="0" y="0"/>
            <a:chExt cx="4825192" cy="1354667"/>
          </a:xfrm>
        </p:grpSpPr>
        <p:sp>
          <p:nvSpPr>
            <p:cNvPr name="Freeform 7" id="7"/>
            <p:cNvSpPr/>
            <p:nvPr/>
          </p:nvSpPr>
          <p:spPr>
            <a:xfrm flipH="false" flipV="false" rot="0">
              <a:off x="0" y="0"/>
              <a:ext cx="4825192" cy="1354667"/>
            </a:xfrm>
            <a:custGeom>
              <a:avLst/>
              <a:gdLst/>
              <a:ahLst/>
              <a:cxnLst/>
              <a:rect r="r" b="b" t="t" l="l"/>
              <a:pathLst>
                <a:path h="1354667" w="4825192">
                  <a:moveTo>
                    <a:pt x="0" y="0"/>
                  </a:moveTo>
                  <a:lnTo>
                    <a:pt x="4825192" y="0"/>
                  </a:lnTo>
                  <a:lnTo>
                    <a:pt x="4825192" y="1354667"/>
                  </a:lnTo>
                  <a:lnTo>
                    <a:pt x="0" y="1354667"/>
                  </a:lnTo>
                  <a:close/>
                </a:path>
              </a:pathLst>
            </a:custGeom>
            <a:solidFill>
              <a:srgbClr val="335ACF"/>
            </a:solidFill>
          </p:spPr>
        </p:sp>
        <p:sp>
          <p:nvSpPr>
            <p:cNvPr name="TextBox 8" id="8"/>
            <p:cNvSpPr txBox="true"/>
            <p:nvPr/>
          </p:nvSpPr>
          <p:spPr>
            <a:xfrm>
              <a:off x="0" y="-38100"/>
              <a:ext cx="4825192" cy="1392767"/>
            </a:xfrm>
            <a:prstGeom prst="rect">
              <a:avLst/>
            </a:prstGeom>
          </p:spPr>
          <p:txBody>
            <a:bodyPr anchor="ctr" rtlCol="false" tIns="50800" lIns="50800" bIns="50800" rIns="50800"/>
            <a:lstStyle/>
            <a:p>
              <a:pPr algn="ctr">
                <a:lnSpc>
                  <a:spcPts val="2659"/>
                </a:lnSpc>
              </a:pPr>
            </a:p>
          </p:txBody>
        </p:sp>
      </p:grpSp>
      <p:grpSp>
        <p:nvGrpSpPr>
          <p:cNvPr name="Group 9" id="9"/>
          <p:cNvGrpSpPr>
            <a:grpSpLocks noChangeAspect="true"/>
          </p:cNvGrpSpPr>
          <p:nvPr/>
        </p:nvGrpSpPr>
        <p:grpSpPr>
          <a:xfrm rot="0">
            <a:off x="2330876" y="1859255"/>
            <a:ext cx="2432521" cy="4813160"/>
            <a:chOff x="0" y="0"/>
            <a:chExt cx="2620010" cy="5184140"/>
          </a:xfrm>
        </p:grpSpPr>
        <p:sp>
          <p:nvSpPr>
            <p:cNvPr name="Freeform 10" id="10"/>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1" id="11"/>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0" t="0" r="0" b="-3290"/>
              </a:stretch>
            </a:blipFill>
          </p:spPr>
        </p:sp>
        <p:sp>
          <p:nvSpPr>
            <p:cNvPr name="Freeform 12" id="12"/>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3" id="13"/>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4" id="14"/>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5" id="15"/>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6" id="16"/>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7" id="17"/>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8" id="18"/>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19" id="19"/>
          <p:cNvGrpSpPr>
            <a:grpSpLocks noChangeAspect="true"/>
          </p:cNvGrpSpPr>
          <p:nvPr/>
        </p:nvGrpSpPr>
        <p:grpSpPr>
          <a:xfrm rot="0">
            <a:off x="13522560" y="1859255"/>
            <a:ext cx="2432521" cy="4813160"/>
            <a:chOff x="0" y="0"/>
            <a:chExt cx="2620010" cy="5184140"/>
          </a:xfrm>
        </p:grpSpPr>
        <p:sp>
          <p:nvSpPr>
            <p:cNvPr name="Freeform 20" id="20"/>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1" id="21"/>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0" r="0" b="-2639"/>
              </a:stretch>
            </a:blipFill>
          </p:spPr>
        </p:sp>
        <p:sp>
          <p:nvSpPr>
            <p:cNvPr name="Freeform 22" id="22"/>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3" id="23"/>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4" id="24"/>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5" id="25"/>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6" id="26"/>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7" id="27"/>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8" id="28"/>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9" id="29"/>
          <p:cNvGrpSpPr>
            <a:grpSpLocks noChangeAspect="true"/>
          </p:cNvGrpSpPr>
          <p:nvPr/>
        </p:nvGrpSpPr>
        <p:grpSpPr>
          <a:xfrm rot="0">
            <a:off x="7927740" y="1859255"/>
            <a:ext cx="2432521" cy="4813160"/>
            <a:chOff x="0" y="0"/>
            <a:chExt cx="2620010" cy="5184140"/>
          </a:xfrm>
        </p:grpSpPr>
        <p:sp>
          <p:nvSpPr>
            <p:cNvPr name="Freeform 30" id="30"/>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1" id="31"/>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2941" r="0" b="0"/>
              </a:stretch>
            </a:blipFill>
          </p:spPr>
        </p:sp>
        <p:sp>
          <p:nvSpPr>
            <p:cNvPr name="Freeform 32" id="32"/>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3" id="33"/>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4" id="34"/>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5" id="35"/>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6" id="36"/>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7" id="37"/>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8" id="38"/>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39" id="39"/>
          <p:cNvSpPr txBox="true"/>
          <p:nvPr/>
        </p:nvSpPr>
        <p:spPr>
          <a:xfrm rot="0">
            <a:off x="1572519" y="7039226"/>
            <a:ext cx="3949234" cy="2389763"/>
          </a:xfrm>
          <a:prstGeom prst="rect">
            <a:avLst/>
          </a:prstGeom>
        </p:spPr>
        <p:txBody>
          <a:bodyPr anchor="t" rtlCol="false" tIns="0" lIns="0" bIns="0" rIns="0">
            <a:spAutoFit/>
          </a:bodyPr>
          <a:lstStyle/>
          <a:p>
            <a:pPr algn="ctr">
              <a:lnSpc>
                <a:spcPts val="3219"/>
              </a:lnSpc>
              <a:spcBef>
                <a:spcPct val="0"/>
              </a:spcBef>
            </a:pPr>
            <a:r>
              <a:rPr lang="en-US" sz="2299">
                <a:solidFill>
                  <a:srgbClr val="FFFFFF"/>
                </a:solidFill>
                <a:latin typeface="Canva Sans"/>
                <a:ea typeface="Canva Sans"/>
                <a:cs typeface="Canva Sans"/>
                <a:sym typeface="Canva Sans"/>
              </a:rPr>
              <a:t>Step 1 - Generate C</a:t>
            </a:r>
            <a:r>
              <a:rPr lang="en-US" sz="2299">
                <a:solidFill>
                  <a:srgbClr val="FFFFFF"/>
                </a:solidFill>
                <a:latin typeface="Canva Sans"/>
                <a:ea typeface="Canva Sans"/>
                <a:cs typeface="Canva Sans"/>
                <a:sym typeface="Canva Sans"/>
              </a:rPr>
              <a:t>ode (Lecturer): The lecturer enters the course code and taps Generate. The system creates a unique, time-limited attendance code</a:t>
            </a:r>
          </a:p>
        </p:txBody>
      </p:sp>
      <p:sp>
        <p:nvSpPr>
          <p:cNvPr name="TextBox 40" id="40"/>
          <p:cNvSpPr txBox="true"/>
          <p:nvPr/>
        </p:nvSpPr>
        <p:spPr>
          <a:xfrm rot="0">
            <a:off x="7370432" y="7039226"/>
            <a:ext cx="3547136" cy="2389763"/>
          </a:xfrm>
          <a:prstGeom prst="rect">
            <a:avLst/>
          </a:prstGeom>
        </p:spPr>
        <p:txBody>
          <a:bodyPr anchor="t" rtlCol="false" tIns="0" lIns="0" bIns="0" rIns="0">
            <a:spAutoFit/>
          </a:bodyPr>
          <a:lstStyle/>
          <a:p>
            <a:pPr algn="ctr">
              <a:lnSpc>
                <a:spcPts val="3219"/>
              </a:lnSpc>
              <a:spcBef>
                <a:spcPct val="0"/>
              </a:spcBef>
            </a:pPr>
            <a:r>
              <a:rPr lang="en-US" sz="2299">
                <a:solidFill>
                  <a:srgbClr val="FFFFFF"/>
                </a:solidFill>
                <a:latin typeface="Canva Sans"/>
                <a:ea typeface="Canva Sans"/>
                <a:cs typeface="Canva Sans"/>
                <a:sym typeface="Canva Sans"/>
              </a:rPr>
              <a:t>Step 2 – Submit C</a:t>
            </a:r>
            <a:r>
              <a:rPr lang="en-US" sz="2299">
                <a:solidFill>
                  <a:srgbClr val="FFFFFF"/>
                </a:solidFill>
                <a:latin typeface="Canva Sans"/>
                <a:ea typeface="Canva Sans"/>
                <a:cs typeface="Canva Sans"/>
                <a:sym typeface="Canva Sans"/>
              </a:rPr>
              <a:t>ode (Student): Students enter the code in the Attendance section to mark their attendance for that class</a:t>
            </a:r>
          </a:p>
        </p:txBody>
      </p:sp>
      <p:sp>
        <p:nvSpPr>
          <p:cNvPr name="TextBox 41" id="41"/>
          <p:cNvSpPr txBox="true"/>
          <p:nvPr/>
        </p:nvSpPr>
        <p:spPr>
          <a:xfrm rot="0">
            <a:off x="12967296" y="7039226"/>
            <a:ext cx="4033005" cy="2389763"/>
          </a:xfrm>
          <a:prstGeom prst="rect">
            <a:avLst/>
          </a:prstGeom>
        </p:spPr>
        <p:txBody>
          <a:bodyPr anchor="t" rtlCol="false" tIns="0" lIns="0" bIns="0" rIns="0">
            <a:spAutoFit/>
          </a:bodyPr>
          <a:lstStyle/>
          <a:p>
            <a:pPr algn="ctr">
              <a:lnSpc>
                <a:spcPts val="3219"/>
              </a:lnSpc>
              <a:spcBef>
                <a:spcPct val="0"/>
              </a:spcBef>
            </a:pPr>
            <a:r>
              <a:rPr lang="en-US" sz="2299">
                <a:solidFill>
                  <a:srgbClr val="FFFFFF"/>
                </a:solidFill>
                <a:latin typeface="Canva Sans"/>
                <a:ea typeface="Canva Sans"/>
                <a:cs typeface="Canva Sans"/>
                <a:sym typeface="Canva Sans"/>
              </a:rPr>
              <a:t>Step 3 – View Atten</a:t>
            </a:r>
            <a:r>
              <a:rPr lang="en-US" sz="2299">
                <a:solidFill>
                  <a:srgbClr val="FFFFFF"/>
                </a:solidFill>
                <a:latin typeface="Canva Sans"/>
                <a:ea typeface="Canva Sans"/>
                <a:cs typeface="Canva Sans"/>
                <a:sym typeface="Canva Sans"/>
              </a:rPr>
              <a:t>dance (Lecturer): The lecturer checks the View section to see how many students submitted the code, filtered by course code and date.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8802" y="7301218"/>
            <a:ext cx="20585603" cy="5264356"/>
            <a:chOff x="0" y="0"/>
            <a:chExt cx="4274726" cy="1093176"/>
          </a:xfrm>
        </p:grpSpPr>
        <p:sp>
          <p:nvSpPr>
            <p:cNvPr name="Freeform 3" id="3"/>
            <p:cNvSpPr/>
            <p:nvPr/>
          </p:nvSpPr>
          <p:spPr>
            <a:xfrm flipH="false" flipV="false" rot="0">
              <a:off x="0" y="0"/>
              <a:ext cx="4274726" cy="1093176"/>
            </a:xfrm>
            <a:custGeom>
              <a:avLst/>
              <a:gdLst/>
              <a:ahLst/>
              <a:cxnLst/>
              <a:rect r="r" b="b" t="t" l="l"/>
              <a:pathLst>
                <a:path h="1093176" w="4274726">
                  <a:moveTo>
                    <a:pt x="2137363" y="0"/>
                  </a:moveTo>
                  <a:cubicBezTo>
                    <a:pt x="956930" y="0"/>
                    <a:pt x="0" y="244716"/>
                    <a:pt x="0" y="546588"/>
                  </a:cubicBezTo>
                  <a:cubicBezTo>
                    <a:pt x="0" y="848460"/>
                    <a:pt x="956930" y="1093176"/>
                    <a:pt x="2137363" y="1093176"/>
                  </a:cubicBezTo>
                  <a:cubicBezTo>
                    <a:pt x="3317796" y="1093176"/>
                    <a:pt x="4274726" y="848460"/>
                    <a:pt x="4274726" y="546588"/>
                  </a:cubicBezTo>
                  <a:cubicBezTo>
                    <a:pt x="4274726" y="244716"/>
                    <a:pt x="3317796" y="0"/>
                    <a:pt x="2137363" y="0"/>
                  </a:cubicBezTo>
                  <a:close/>
                </a:path>
              </a:pathLst>
            </a:custGeom>
            <a:solidFill>
              <a:srgbClr val="335ACF"/>
            </a:solidFill>
          </p:spPr>
        </p:sp>
        <p:sp>
          <p:nvSpPr>
            <p:cNvPr name="TextBox 4" id="4"/>
            <p:cNvSpPr txBox="true"/>
            <p:nvPr/>
          </p:nvSpPr>
          <p:spPr>
            <a:xfrm>
              <a:off x="400756" y="64385"/>
              <a:ext cx="3473215" cy="926305"/>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7406341" y="4044667"/>
            <a:ext cx="3475318" cy="6876514"/>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58351" t="0" r="-58351"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15" id="15"/>
          <p:cNvGrpSpPr>
            <a:grpSpLocks noChangeAspect="true"/>
          </p:cNvGrpSpPr>
          <p:nvPr/>
        </p:nvGrpSpPr>
        <p:grpSpPr>
          <a:xfrm rot="0">
            <a:off x="10329460" y="5143500"/>
            <a:ext cx="2919979" cy="5777681"/>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0" t="0" r="0" b="-1521"/>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5" id="25"/>
          <p:cNvGrpSpPr>
            <a:grpSpLocks noChangeAspect="true"/>
          </p:cNvGrpSpPr>
          <p:nvPr/>
        </p:nvGrpSpPr>
        <p:grpSpPr>
          <a:xfrm rot="0">
            <a:off x="5038561" y="5143500"/>
            <a:ext cx="2919979" cy="5777681"/>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0" r="0" b="-715"/>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5" id="35"/>
          <p:cNvGrpSpPr>
            <a:grpSpLocks noChangeAspect="true"/>
          </p:cNvGrpSpPr>
          <p:nvPr/>
        </p:nvGrpSpPr>
        <p:grpSpPr>
          <a:xfrm rot="0">
            <a:off x="12697923" y="6476535"/>
            <a:ext cx="2246277" cy="4444645"/>
            <a:chOff x="0" y="0"/>
            <a:chExt cx="2620010" cy="5184140"/>
          </a:xfrm>
        </p:grpSpPr>
        <p:sp>
          <p:nvSpPr>
            <p:cNvPr name="Freeform 36" id="3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7" id="3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0" r="-471" b="0"/>
              </a:stretch>
            </a:blipFill>
          </p:spPr>
        </p:sp>
        <p:sp>
          <p:nvSpPr>
            <p:cNvPr name="Freeform 38" id="3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9" id="3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0" id="4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2" id="4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3" id="4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4" id="4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5" id="45"/>
          <p:cNvGrpSpPr>
            <a:grpSpLocks noChangeAspect="true"/>
          </p:cNvGrpSpPr>
          <p:nvPr/>
        </p:nvGrpSpPr>
        <p:grpSpPr>
          <a:xfrm rot="0">
            <a:off x="3343800" y="6476535"/>
            <a:ext cx="2246277" cy="4444645"/>
            <a:chOff x="0" y="0"/>
            <a:chExt cx="2620010" cy="5184140"/>
          </a:xfrm>
        </p:grpSpPr>
        <p:sp>
          <p:nvSpPr>
            <p:cNvPr name="Freeform 46" id="4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7" id="4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630" t="0" r="0" b="0"/>
              </a:stretch>
            </a:blipFill>
          </p:spPr>
        </p:sp>
        <p:sp>
          <p:nvSpPr>
            <p:cNvPr name="Freeform 48" id="4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9" id="4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50" id="5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51" id="5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52" id="5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3" id="5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4" id="5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55" id="55"/>
          <p:cNvSpPr txBox="true"/>
          <p:nvPr/>
        </p:nvSpPr>
        <p:spPr>
          <a:xfrm rot="0">
            <a:off x="3902954" y="1420400"/>
            <a:ext cx="10482091" cy="2137454"/>
          </a:xfrm>
          <a:prstGeom prst="rect">
            <a:avLst/>
          </a:prstGeom>
        </p:spPr>
        <p:txBody>
          <a:bodyPr anchor="t" rtlCol="false" tIns="0" lIns="0" bIns="0" rIns="0">
            <a:spAutoFit/>
          </a:bodyPr>
          <a:lstStyle/>
          <a:p>
            <a:pPr algn="ctr">
              <a:lnSpc>
                <a:spcPts val="16583"/>
              </a:lnSpc>
              <a:spcBef>
                <a:spcPct val="0"/>
              </a:spcBef>
            </a:pPr>
            <a:r>
              <a:rPr lang="en-US" b="true" sz="11845">
                <a:solidFill>
                  <a:srgbClr val="335AC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DAG5gFrjwQw</dc:identifier>
  <dcterms:modified xsi:type="dcterms:W3CDTF">2011-08-01T06:04:30Z</dcterms:modified>
  <cp:revision>1</cp:revision>
  <dc:title>Dart</dc:title>
</cp:coreProperties>
</file>